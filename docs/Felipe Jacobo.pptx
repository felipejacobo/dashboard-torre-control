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0104100" cy="11309350"/>
  <p:notesSz cx="20104100" cy="11309350"/>
  <p:embeddedFontLst>
    <p:embeddedFont>
      <p:font typeface="Arial Black" panose="020B0A04020102020204" pitchFamily="3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GqLHNcBJXq+tXhjhAXq5R9g6g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826"/>
    <a:srgbClr val="215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26" autoAdjust="0"/>
  </p:normalViewPr>
  <p:slideViewPr>
    <p:cSldViewPr snapToGrid="0">
      <p:cViewPr varScale="1">
        <p:scale>
          <a:sx n="66" d="100"/>
          <a:sy n="66" d="100"/>
        </p:scale>
        <p:origin x="642" y="6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/>
              <a:t>‹Nº›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7E52A2B2-3DBD-4815-B791-F7C83E03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B3407056-67F5-EF82-05B1-D4DF64F165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C9EC0BF9-D2C4-6708-A0C3-C515B4F869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5665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A1E81DAD-6503-2B33-6354-1E878F4AB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4D776FC-5981-F9AE-531A-33A71BE4C3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3E1DE068-44DC-7D4C-FE48-0E582C34A8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515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3565431" y="1375213"/>
            <a:ext cx="3395979" cy="1018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500" b="0" i="0">
                <a:solidFill>
                  <a:srgbClr val="235AA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3540421" y="2678317"/>
            <a:ext cx="12877165" cy="6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50" b="0" i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500" b="0" i="0">
                <a:solidFill>
                  <a:srgbClr val="235AA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50" b="0" i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3565431" y="1375213"/>
            <a:ext cx="3395979" cy="1018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500" b="0" i="0">
                <a:solidFill>
                  <a:srgbClr val="235AA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3565431" y="1375213"/>
            <a:ext cx="3395979" cy="1018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500" b="0" i="0">
                <a:solidFill>
                  <a:srgbClr val="235AA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6F8F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" name="Google Shape;11;p6"/>
          <p:cNvSpPr/>
          <p:nvPr/>
        </p:nvSpPr>
        <p:spPr>
          <a:xfrm>
            <a:off x="1050360" y="4856010"/>
            <a:ext cx="1029969" cy="4012565"/>
          </a:xfrm>
          <a:custGeom>
            <a:avLst/>
            <a:gdLst/>
            <a:ahLst/>
            <a:cxnLst/>
            <a:rect l="l" t="t" r="r" b="b"/>
            <a:pathLst>
              <a:path w="1029969" h="4012565" extrusionOk="0">
                <a:moveTo>
                  <a:pt x="0" y="0"/>
                </a:moveTo>
                <a:lnTo>
                  <a:pt x="0" y="3319134"/>
                </a:lnTo>
                <a:lnTo>
                  <a:pt x="1029350" y="4012369"/>
                </a:lnTo>
                <a:lnTo>
                  <a:pt x="1029350" y="693235"/>
                </a:lnTo>
                <a:lnTo>
                  <a:pt x="0" y="0"/>
                </a:lnTo>
                <a:close/>
              </a:path>
            </a:pathLst>
          </a:cu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Google Shape;12;p6"/>
          <p:cNvSpPr/>
          <p:nvPr/>
        </p:nvSpPr>
        <p:spPr>
          <a:xfrm>
            <a:off x="1039859" y="7702485"/>
            <a:ext cx="3293110" cy="3606165"/>
          </a:xfrm>
          <a:custGeom>
            <a:avLst/>
            <a:gdLst/>
            <a:ahLst/>
            <a:cxnLst/>
            <a:rect l="l" t="t" r="r" b="b"/>
            <a:pathLst>
              <a:path w="3293110" h="3606165" extrusionOk="0">
                <a:moveTo>
                  <a:pt x="0" y="0"/>
                </a:moveTo>
                <a:lnTo>
                  <a:pt x="0" y="1380471"/>
                </a:lnTo>
                <a:lnTo>
                  <a:pt x="2250905" y="3606068"/>
                </a:lnTo>
                <a:lnTo>
                  <a:pt x="3292507" y="3606068"/>
                </a:lnTo>
                <a:lnTo>
                  <a:pt x="0" y="0"/>
                </a:lnTo>
                <a:close/>
              </a:path>
            </a:pathLst>
          </a:custGeom>
          <a:solidFill>
            <a:srgbClr val="FFD82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" name="Google Shape;13;p6"/>
          <p:cNvSpPr/>
          <p:nvPr/>
        </p:nvSpPr>
        <p:spPr>
          <a:xfrm>
            <a:off x="0" y="4236288"/>
            <a:ext cx="3422015" cy="7072630"/>
          </a:xfrm>
          <a:custGeom>
            <a:avLst/>
            <a:gdLst/>
            <a:ahLst/>
            <a:cxnLst/>
            <a:rect l="l" t="t" r="r" b="b"/>
            <a:pathLst>
              <a:path w="3422015" h="7072630" extrusionOk="0">
                <a:moveTo>
                  <a:pt x="236484" y="0"/>
                </a:moveTo>
                <a:lnTo>
                  <a:pt x="0" y="0"/>
                </a:lnTo>
                <a:lnTo>
                  <a:pt x="0" y="7072266"/>
                </a:lnTo>
                <a:lnTo>
                  <a:pt x="3421602" y="7072266"/>
                </a:lnTo>
                <a:lnTo>
                  <a:pt x="1064197" y="4559222"/>
                </a:lnTo>
                <a:lnTo>
                  <a:pt x="1064197" y="620368"/>
                </a:lnTo>
                <a:lnTo>
                  <a:pt x="236484" y="0"/>
                </a:lnTo>
                <a:close/>
              </a:path>
            </a:pathLst>
          </a:custGeom>
          <a:solidFill>
            <a:srgbClr val="2159A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" name="Google Shape;14;p6"/>
          <p:cNvSpPr/>
          <p:nvPr/>
        </p:nvSpPr>
        <p:spPr>
          <a:xfrm>
            <a:off x="18087214" y="2440176"/>
            <a:ext cx="1029969" cy="4012565"/>
          </a:xfrm>
          <a:custGeom>
            <a:avLst/>
            <a:gdLst/>
            <a:ahLst/>
            <a:cxnLst/>
            <a:rect l="l" t="t" r="r" b="b"/>
            <a:pathLst>
              <a:path w="1029969" h="4012565" extrusionOk="0">
                <a:moveTo>
                  <a:pt x="0" y="0"/>
                </a:moveTo>
                <a:lnTo>
                  <a:pt x="0" y="3319134"/>
                </a:lnTo>
                <a:lnTo>
                  <a:pt x="1029350" y="4012369"/>
                </a:lnTo>
                <a:lnTo>
                  <a:pt x="1029350" y="693235"/>
                </a:lnTo>
                <a:lnTo>
                  <a:pt x="0" y="0"/>
                </a:lnTo>
                <a:close/>
              </a:path>
            </a:pathLst>
          </a:cu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Google Shape;15;p6"/>
          <p:cNvSpPr/>
          <p:nvPr/>
        </p:nvSpPr>
        <p:spPr>
          <a:xfrm>
            <a:off x="15834569" y="0"/>
            <a:ext cx="3293110" cy="3606165"/>
          </a:xfrm>
          <a:custGeom>
            <a:avLst/>
            <a:gdLst/>
            <a:ahLst/>
            <a:cxnLst/>
            <a:rect l="l" t="t" r="r" b="b"/>
            <a:pathLst>
              <a:path w="3293109" h="3606165" extrusionOk="0">
                <a:moveTo>
                  <a:pt x="1041591" y="0"/>
                </a:moveTo>
                <a:lnTo>
                  <a:pt x="0" y="0"/>
                </a:lnTo>
                <a:lnTo>
                  <a:pt x="3292496" y="3606068"/>
                </a:lnTo>
                <a:lnTo>
                  <a:pt x="3292496" y="2225597"/>
                </a:lnTo>
                <a:lnTo>
                  <a:pt x="1041591" y="0"/>
                </a:lnTo>
                <a:close/>
              </a:path>
            </a:pathLst>
          </a:custGeom>
          <a:solidFill>
            <a:srgbClr val="FFD82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" name="Google Shape;16;p6"/>
          <p:cNvSpPr/>
          <p:nvPr/>
        </p:nvSpPr>
        <p:spPr>
          <a:xfrm>
            <a:off x="16745322" y="0"/>
            <a:ext cx="3359150" cy="7072630"/>
          </a:xfrm>
          <a:custGeom>
            <a:avLst/>
            <a:gdLst/>
            <a:ahLst/>
            <a:cxnLst/>
            <a:rect l="l" t="t" r="r" b="b"/>
            <a:pathLst>
              <a:path w="3359150" h="7072630" extrusionOk="0">
                <a:moveTo>
                  <a:pt x="3358777" y="0"/>
                </a:moveTo>
                <a:lnTo>
                  <a:pt x="0" y="0"/>
                </a:lnTo>
                <a:lnTo>
                  <a:pt x="2357404" y="2513043"/>
                </a:lnTo>
                <a:lnTo>
                  <a:pt x="2357404" y="6451897"/>
                </a:lnTo>
                <a:lnTo>
                  <a:pt x="3185107" y="7072266"/>
                </a:lnTo>
                <a:lnTo>
                  <a:pt x="3358777" y="7072266"/>
                </a:lnTo>
                <a:lnTo>
                  <a:pt x="3358777" y="0"/>
                </a:lnTo>
                <a:close/>
              </a:path>
            </a:pathLst>
          </a:custGeom>
          <a:solidFill>
            <a:srgbClr val="2159A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7" name="Google Shape;17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029149" y="10382175"/>
            <a:ext cx="2718939" cy="68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3565431" y="1375213"/>
            <a:ext cx="3395979" cy="1018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500" b="0" i="0" u="none" strike="noStrike" cap="none">
                <a:solidFill>
                  <a:srgbClr val="235AA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3540421" y="2678317"/>
            <a:ext cx="12877165" cy="6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50" b="0" i="0" u="none" strike="noStrike" cap="none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hyperlink" Target="https://github.com/FelipeJacobo/Dashboard-Torre-Control.git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278" y="-1"/>
            <a:ext cx="20117378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>
            <a:spLocks noGrp="1"/>
          </p:cNvSpPr>
          <p:nvPr>
            <p:ph type="title"/>
          </p:nvPr>
        </p:nvSpPr>
        <p:spPr>
          <a:xfrm>
            <a:off x="562921" y="4204494"/>
            <a:ext cx="9761220" cy="219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0" rIns="0" bIns="0" anchor="t" anchorCtr="0">
            <a:spAutoFit/>
          </a:bodyPr>
          <a:lstStyle/>
          <a:p>
            <a:r>
              <a:rPr lang="pt-BR" b="1" dirty="0"/>
              <a:t>Dashboard Móvil Torre de </a:t>
            </a:r>
            <a:r>
              <a:rPr lang="pt-BR" b="1" dirty="0" err="1"/>
              <a:t>Control</a:t>
            </a:r>
            <a:endParaRPr lang="pt-BR" b="1" dirty="0"/>
          </a:p>
        </p:txBody>
      </p:sp>
      <p:sp>
        <p:nvSpPr>
          <p:cNvPr id="58" name="Google Shape;58;p1"/>
          <p:cNvSpPr txBox="1"/>
          <p:nvPr/>
        </p:nvSpPr>
        <p:spPr>
          <a:xfrm>
            <a:off x="13382171" y="3924273"/>
            <a:ext cx="6405750" cy="524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Personal</a:t>
            </a:r>
          </a:p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MX" sz="2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👤 Felipe Jacobo - Transformando </a:t>
            </a:r>
          </a:p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Desafíos en Soluciones</a:t>
            </a:r>
          </a:p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💼 Rol Actual:</a:t>
            </a:r>
          </a:p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Ingeniería en Desarrollo de Software</a:t>
            </a:r>
          </a:p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Torre de Control - Área de Cobranza Coppel</a:t>
            </a:r>
          </a:p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Monitoreo de agentes y campañas</a:t>
            </a:r>
          </a:p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Reporte de incidencias críticas</a:t>
            </a:r>
          </a:p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5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ctr" rtl="0">
              <a:lnSpc>
                <a:spcPct val="12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🎯 Objetivo: Optimizar gestión operativa</a:t>
            </a:r>
            <a:endParaRPr sz="245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218" y="10543701"/>
            <a:ext cx="2718932" cy="68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531" y="361196"/>
            <a:ext cx="4953000" cy="666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67050" y="885811"/>
            <a:ext cx="215265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32205" y="-10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6F8F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67" name="Google Shape;67;p2"/>
          <p:cNvSpPr/>
          <p:nvPr/>
        </p:nvSpPr>
        <p:spPr>
          <a:xfrm>
            <a:off x="1047088" y="2450187"/>
            <a:ext cx="1026160" cy="4000500"/>
          </a:xfrm>
          <a:custGeom>
            <a:avLst/>
            <a:gdLst/>
            <a:ahLst/>
            <a:cxnLst/>
            <a:rect l="l" t="t" r="r" b="b"/>
            <a:pathLst>
              <a:path w="1026160" h="4000500" extrusionOk="0">
                <a:moveTo>
                  <a:pt x="1026146" y="0"/>
                </a:moveTo>
                <a:lnTo>
                  <a:pt x="0" y="691078"/>
                </a:lnTo>
                <a:lnTo>
                  <a:pt x="0" y="3999878"/>
                </a:lnTo>
                <a:lnTo>
                  <a:pt x="1026146" y="3308799"/>
                </a:lnTo>
                <a:lnTo>
                  <a:pt x="1026146" y="0"/>
                </a:lnTo>
                <a:close/>
              </a:path>
            </a:pathLst>
          </a:cu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8" name="Google Shape;68;p2"/>
          <p:cNvSpPr/>
          <p:nvPr/>
        </p:nvSpPr>
        <p:spPr>
          <a:xfrm>
            <a:off x="18030865" y="4858491"/>
            <a:ext cx="1026160" cy="4000500"/>
          </a:xfrm>
          <a:custGeom>
            <a:avLst/>
            <a:gdLst/>
            <a:ahLst/>
            <a:cxnLst/>
            <a:rect l="l" t="t" r="r" b="b"/>
            <a:pathLst>
              <a:path w="1026159" h="4000500" extrusionOk="0">
                <a:moveTo>
                  <a:pt x="1026146" y="0"/>
                </a:moveTo>
                <a:lnTo>
                  <a:pt x="0" y="691078"/>
                </a:lnTo>
                <a:lnTo>
                  <a:pt x="0" y="3999878"/>
                </a:lnTo>
                <a:lnTo>
                  <a:pt x="1026146" y="3308799"/>
                </a:lnTo>
                <a:lnTo>
                  <a:pt x="1026146" y="0"/>
                </a:lnTo>
                <a:close/>
              </a:path>
            </a:pathLst>
          </a:cu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9" name="Google Shape;69;p2"/>
          <p:cNvSpPr/>
          <p:nvPr/>
        </p:nvSpPr>
        <p:spPr>
          <a:xfrm>
            <a:off x="1036617" y="0"/>
            <a:ext cx="3298825" cy="3612515"/>
          </a:xfrm>
          <a:custGeom>
            <a:avLst/>
            <a:gdLst/>
            <a:ahLst/>
            <a:cxnLst/>
            <a:rect l="l" t="t" r="r" b="b"/>
            <a:pathLst>
              <a:path w="3298825" h="3612515" extrusionOk="0">
                <a:moveTo>
                  <a:pt x="3298328" y="0"/>
                </a:moveTo>
                <a:lnTo>
                  <a:pt x="2261711" y="0"/>
                </a:lnTo>
                <a:lnTo>
                  <a:pt x="0" y="2236287"/>
                </a:lnTo>
                <a:lnTo>
                  <a:pt x="0" y="3612455"/>
                </a:lnTo>
                <a:lnTo>
                  <a:pt x="3298328" y="0"/>
                </a:lnTo>
                <a:close/>
              </a:path>
            </a:pathLst>
          </a:custGeom>
          <a:solidFill>
            <a:srgbClr val="FFD82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0" name="Google Shape;70;p2"/>
          <p:cNvSpPr/>
          <p:nvPr/>
        </p:nvSpPr>
        <p:spPr>
          <a:xfrm>
            <a:off x="15769149" y="7696100"/>
            <a:ext cx="3298825" cy="3612515"/>
          </a:xfrm>
          <a:custGeom>
            <a:avLst/>
            <a:gdLst/>
            <a:ahLst/>
            <a:cxnLst/>
            <a:rect l="l" t="t" r="r" b="b"/>
            <a:pathLst>
              <a:path w="3298825" h="3612515" extrusionOk="0">
                <a:moveTo>
                  <a:pt x="3298328" y="0"/>
                </a:moveTo>
                <a:lnTo>
                  <a:pt x="0" y="3612455"/>
                </a:lnTo>
                <a:lnTo>
                  <a:pt x="1036617" y="3612455"/>
                </a:lnTo>
                <a:lnTo>
                  <a:pt x="3298328" y="1376167"/>
                </a:lnTo>
                <a:lnTo>
                  <a:pt x="3298328" y="0"/>
                </a:lnTo>
                <a:close/>
              </a:path>
            </a:pathLst>
          </a:custGeom>
          <a:solidFill>
            <a:srgbClr val="FFD82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" name="Google Shape;71;p2"/>
          <p:cNvSpPr txBox="1">
            <a:spLocks noGrp="1"/>
          </p:cNvSpPr>
          <p:nvPr>
            <p:ph type="title"/>
          </p:nvPr>
        </p:nvSpPr>
        <p:spPr>
          <a:xfrm>
            <a:off x="3347717" y="1435827"/>
            <a:ext cx="12203718" cy="101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Problemática Detectada</a:t>
            </a:r>
            <a:endParaRPr dirty="0"/>
          </a:p>
        </p:txBody>
      </p:sp>
      <p:sp>
        <p:nvSpPr>
          <p:cNvPr id="72" name="Google Shape;72;p2"/>
          <p:cNvSpPr txBox="1"/>
          <p:nvPr/>
        </p:nvSpPr>
        <p:spPr>
          <a:xfrm>
            <a:off x="3073350" y="2979564"/>
            <a:ext cx="7422988" cy="490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latin typeface="Arial"/>
                <a:ea typeface="Arial"/>
                <a:cs typeface="Arial"/>
                <a:sym typeface="Arial"/>
              </a:rPr>
              <a:t>📊 Impacto Medido:</a:t>
            </a:r>
          </a:p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50" dirty="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latin typeface="Arial"/>
                <a:ea typeface="Arial"/>
                <a:cs typeface="Arial"/>
                <a:sym typeface="Arial"/>
              </a:rPr>
              <a:t>⏰ PÉRDIDA DE TIEMPO:</a:t>
            </a:r>
          </a:p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latin typeface="Arial"/>
                <a:ea typeface="Arial"/>
                <a:cs typeface="Arial"/>
                <a:sym typeface="Arial"/>
              </a:rPr>
              <a:t>• 9 minutos por consulta consolidando información</a:t>
            </a:r>
          </a:p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latin typeface="Arial"/>
                <a:ea typeface="Arial"/>
                <a:cs typeface="Arial"/>
                <a:sym typeface="Arial"/>
              </a:rPr>
              <a:t>• 45 minutos diarios en procesos manuales</a:t>
            </a:r>
          </a:p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latin typeface="Arial"/>
                <a:ea typeface="Arial"/>
                <a:cs typeface="Arial"/>
                <a:sym typeface="Arial"/>
              </a:rPr>
              <a:t>• 2-3 horas de antigüedad en los datos</a:t>
            </a:r>
          </a:p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50" dirty="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latin typeface="Arial"/>
                <a:ea typeface="Arial"/>
                <a:cs typeface="Arial"/>
                <a:sym typeface="Arial"/>
              </a:rPr>
              <a:t>🔍 CONSECUENCIAS:</a:t>
            </a:r>
          </a:p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latin typeface="Arial"/>
                <a:ea typeface="Arial"/>
                <a:cs typeface="Arial"/>
                <a:sym typeface="Arial"/>
              </a:rPr>
              <a:t>• Decisiones basadas en información desactualizada</a:t>
            </a:r>
          </a:p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latin typeface="Arial"/>
                <a:ea typeface="Arial"/>
                <a:cs typeface="Arial"/>
                <a:sym typeface="Arial"/>
              </a:rPr>
              <a:t>• Alta fricción en el acceso a datos críticos</a:t>
            </a:r>
          </a:p>
          <a:p>
            <a:pPr marL="12700" marR="5080" lvl="0">
              <a:lnSpc>
                <a:spcPct val="117800"/>
              </a:lnSpc>
            </a:pPr>
            <a:r>
              <a:rPr lang="es-ES" sz="2450" dirty="0"/>
              <a:t>• Capacidad </a:t>
            </a:r>
            <a:r>
              <a:rPr lang="es-ES" sz="2450" dirty="0">
                <a:latin typeface="Arial"/>
                <a:ea typeface="Arial"/>
                <a:cs typeface="Arial"/>
                <a:sym typeface="Arial"/>
              </a:rPr>
              <a:t>de reacción limitada</a:t>
            </a:r>
          </a:p>
        </p:txBody>
      </p:sp>
      <p:grpSp>
        <p:nvGrpSpPr>
          <p:cNvPr id="73" name="Google Shape;73;p2"/>
          <p:cNvGrpSpPr/>
          <p:nvPr/>
        </p:nvGrpSpPr>
        <p:grpSpPr>
          <a:xfrm>
            <a:off x="0" y="5"/>
            <a:ext cx="20104100" cy="11308715"/>
            <a:chOff x="0" y="5"/>
            <a:chExt cx="20104100" cy="11308715"/>
          </a:xfrm>
        </p:grpSpPr>
        <p:sp>
          <p:nvSpPr>
            <p:cNvPr id="74" name="Google Shape;74;p2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 extrusionOk="0">
                  <a:moveTo>
                    <a:pt x="3427476" y="0"/>
                  </a:moveTo>
                  <a:lnTo>
                    <a:pt x="0" y="0"/>
                  </a:lnTo>
                  <a:lnTo>
                    <a:pt x="0" y="7067842"/>
                  </a:lnTo>
                  <a:lnTo>
                    <a:pt x="235750" y="7067842"/>
                  </a:lnTo>
                  <a:lnTo>
                    <a:pt x="1060881" y="6449403"/>
                  </a:lnTo>
                  <a:lnTo>
                    <a:pt x="1060881" y="2522829"/>
                  </a:lnTo>
                  <a:lnTo>
                    <a:pt x="3427476" y="0"/>
                  </a:lnTo>
                  <a:close/>
                </a:path>
                <a:path w="20104100" h="11308715" extrusionOk="0">
                  <a:moveTo>
                    <a:pt x="20104088" y="4240708"/>
                  </a:moveTo>
                  <a:lnTo>
                    <a:pt x="19868350" y="4240708"/>
                  </a:lnTo>
                  <a:lnTo>
                    <a:pt x="19043206" y="4859147"/>
                  </a:lnTo>
                  <a:lnTo>
                    <a:pt x="19043206" y="8785733"/>
                  </a:lnTo>
                  <a:lnTo>
                    <a:pt x="16676624" y="11308550"/>
                  </a:lnTo>
                  <a:lnTo>
                    <a:pt x="20104088" y="11308550"/>
                  </a:lnTo>
                  <a:lnTo>
                    <a:pt x="20104088" y="4240708"/>
                  </a:lnTo>
                  <a:close/>
                </a:path>
              </a:pathLst>
            </a:custGeom>
            <a:solidFill>
              <a:srgbClr val="2159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75" name="Google Shape;75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355522" y="403047"/>
              <a:ext cx="1518951" cy="4372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221979" y="403045"/>
              <a:ext cx="1379519" cy="42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2"/>
            <p:cNvSpPr/>
            <p:nvPr/>
          </p:nvSpPr>
          <p:spPr>
            <a:xfrm>
              <a:off x="18043439" y="403045"/>
              <a:ext cx="15875" cy="437515"/>
            </a:xfrm>
            <a:custGeom>
              <a:avLst/>
              <a:gdLst/>
              <a:ahLst/>
              <a:cxnLst/>
              <a:rect l="l" t="t" r="r" b="b"/>
              <a:pathLst>
                <a:path w="15875" h="437515" extrusionOk="0">
                  <a:moveTo>
                    <a:pt x="15413" y="0"/>
                  </a:moveTo>
                  <a:lnTo>
                    <a:pt x="0" y="0"/>
                  </a:lnTo>
                  <a:lnTo>
                    <a:pt x="0" y="437285"/>
                  </a:lnTo>
                  <a:lnTo>
                    <a:pt x="15413" y="437285"/>
                  </a:lnTo>
                  <a:lnTo>
                    <a:pt x="15413" y="0"/>
                  </a:lnTo>
                  <a:close/>
                </a:path>
              </a:pathLst>
            </a:custGeom>
            <a:solidFill>
              <a:srgbClr val="205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78" name="Google Shape;78;p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78696" y="10382175"/>
              <a:ext cx="2718939" cy="680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2"/>
            <p:cNvSpPr/>
            <p:nvPr/>
          </p:nvSpPr>
          <p:spPr>
            <a:xfrm>
              <a:off x="277478" y="277478"/>
              <a:ext cx="19549745" cy="10753725"/>
            </a:xfrm>
            <a:custGeom>
              <a:avLst/>
              <a:gdLst/>
              <a:ahLst/>
              <a:cxnLst/>
              <a:rect l="l" t="t" r="r" b="b"/>
              <a:pathLst>
                <a:path w="19549745" h="10753725" extrusionOk="0">
                  <a:moveTo>
                    <a:pt x="0" y="10753599"/>
                  </a:moveTo>
                  <a:lnTo>
                    <a:pt x="19549142" y="10753599"/>
                  </a:lnTo>
                  <a:lnTo>
                    <a:pt x="19549142" y="0"/>
                  </a:lnTo>
                  <a:lnTo>
                    <a:pt x="0" y="0"/>
                  </a:lnTo>
                  <a:lnTo>
                    <a:pt x="0" y="10753599"/>
                  </a:lnTo>
                  <a:close/>
                </a:path>
              </a:pathLst>
            </a:custGeom>
            <a:noFill/>
            <a:ln w="10450" cap="flat" cmpd="sng">
              <a:solidFill>
                <a:srgbClr val="235A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F368B2AE-105F-11BC-D829-74DA7EF3F33A}"/>
              </a:ext>
            </a:extLst>
          </p:cNvPr>
          <p:cNvSpPr txBox="1"/>
          <p:nvPr/>
        </p:nvSpPr>
        <p:spPr>
          <a:xfrm>
            <a:off x="2539164" y="8834273"/>
            <a:ext cx="9906068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dirty="0"/>
              <a:t>💡 Diagnóstico: "Tenemos los datos, pero no tenemos información accionable en tiempo real"</a:t>
            </a:r>
            <a:endParaRPr lang="es-MX" sz="245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B19D6C8-41D4-FF8C-42EE-7D692BDB9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333209"/>
              </p:ext>
            </p:extLst>
          </p:nvPr>
        </p:nvGraphicFramePr>
        <p:xfrm>
          <a:off x="11059885" y="2695829"/>
          <a:ext cx="6200782" cy="58928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95079">
                  <a:extLst>
                    <a:ext uri="{9D8B030D-6E8A-4147-A177-3AD203B41FA5}">
                      <a16:colId xmlns:a16="http://schemas.microsoft.com/office/drawing/2014/main" val="1272785679"/>
                    </a:ext>
                  </a:extLst>
                </a:gridCol>
                <a:gridCol w="3105703">
                  <a:extLst>
                    <a:ext uri="{9D8B030D-6E8A-4147-A177-3AD203B41FA5}">
                      <a16:colId xmlns:a16="http://schemas.microsoft.com/office/drawing/2014/main" val="2492732010"/>
                    </a:ext>
                  </a:extLst>
                </a:gridCol>
              </a:tblGrid>
              <a:tr h="1964267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5+ Sistemas/ Consulta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FFD8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9 min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FFD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00637"/>
                  </a:ext>
                </a:extLst>
              </a:tr>
              <a:tr h="1964267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Desfase de Información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2-3 horas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451863"/>
                  </a:ext>
                </a:extLst>
              </a:tr>
              <a:tr h="1964267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Procesos Manuales / Dia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FFD8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45 min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FFD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321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>
            <a:spLocks noGrp="1"/>
          </p:cNvSpPr>
          <p:nvPr>
            <p:ph type="title"/>
          </p:nvPr>
        </p:nvSpPr>
        <p:spPr>
          <a:xfrm>
            <a:off x="3298329" y="868952"/>
            <a:ext cx="12080969" cy="101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/>
            <a:r>
              <a:rPr lang="es-MX" b="1" dirty="0"/>
              <a:t>Solución Implementada</a:t>
            </a:r>
            <a:endParaRPr dirty="0"/>
          </a:p>
        </p:txBody>
      </p:sp>
      <p:sp>
        <p:nvSpPr>
          <p:cNvPr id="85" name="Google Shape;85;p3"/>
          <p:cNvSpPr txBox="1">
            <a:spLocks noGrp="1"/>
          </p:cNvSpPr>
          <p:nvPr>
            <p:ph type="body" idx="1"/>
          </p:nvPr>
        </p:nvSpPr>
        <p:spPr>
          <a:xfrm>
            <a:off x="3540422" y="2636599"/>
            <a:ext cx="6140608" cy="189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r>
              <a:rPr lang="en-US" b="1" dirty="0"/>
              <a:t>TECNOLOGÍAS:</a:t>
            </a:r>
          </a:p>
          <a:p>
            <a:endParaRPr lang="en-US" dirty="0"/>
          </a:p>
          <a:p>
            <a:r>
              <a:rPr lang="es-ES" dirty="0"/>
              <a:t>• </a:t>
            </a:r>
            <a:r>
              <a:rPr lang="en-US" dirty="0"/>
              <a:t>Kotlin + MVVM + Clean Architecture</a:t>
            </a:r>
          </a:p>
          <a:p>
            <a:r>
              <a:rPr lang="es-ES" dirty="0"/>
              <a:t>• </a:t>
            </a:r>
            <a:r>
              <a:rPr lang="en-US" dirty="0"/>
              <a:t>Room Database + Retrofit</a:t>
            </a:r>
          </a:p>
          <a:p>
            <a:r>
              <a:rPr lang="es-ES" dirty="0"/>
              <a:t>• </a:t>
            </a:r>
            <a:r>
              <a:rPr lang="en-US" dirty="0"/>
              <a:t>Material Design 3</a:t>
            </a:r>
          </a:p>
        </p:txBody>
      </p:sp>
      <p:grpSp>
        <p:nvGrpSpPr>
          <p:cNvPr id="86" name="Google Shape;86;p3"/>
          <p:cNvGrpSpPr/>
          <p:nvPr/>
        </p:nvGrpSpPr>
        <p:grpSpPr>
          <a:xfrm>
            <a:off x="277478" y="277478"/>
            <a:ext cx="19549745" cy="10753725"/>
            <a:chOff x="277478" y="277478"/>
            <a:chExt cx="19549745" cy="10753725"/>
          </a:xfrm>
        </p:grpSpPr>
        <p:sp>
          <p:nvSpPr>
            <p:cNvPr id="88" name="Google Shape;88;p3"/>
            <p:cNvSpPr/>
            <p:nvPr/>
          </p:nvSpPr>
          <p:spPr>
            <a:xfrm>
              <a:off x="277478" y="277478"/>
              <a:ext cx="19549745" cy="10753725"/>
            </a:xfrm>
            <a:custGeom>
              <a:avLst/>
              <a:gdLst/>
              <a:ahLst/>
              <a:cxnLst/>
              <a:rect l="l" t="t" r="r" b="b"/>
              <a:pathLst>
                <a:path w="19549745" h="10753725" extrusionOk="0">
                  <a:moveTo>
                    <a:pt x="0" y="10753599"/>
                  </a:moveTo>
                  <a:lnTo>
                    <a:pt x="19549142" y="10753599"/>
                  </a:lnTo>
                  <a:lnTo>
                    <a:pt x="19549142" y="0"/>
                  </a:lnTo>
                  <a:lnTo>
                    <a:pt x="0" y="0"/>
                  </a:lnTo>
                  <a:lnTo>
                    <a:pt x="0" y="10753599"/>
                  </a:lnTo>
                  <a:close/>
                </a:path>
              </a:pathLst>
            </a:custGeom>
            <a:noFill/>
            <a:ln w="10450" cap="flat" cmpd="sng">
              <a:solidFill>
                <a:srgbClr val="235A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89" name="Google Shape;89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3461" y="382917"/>
              <a:ext cx="1368687" cy="394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55279" y="382919"/>
              <a:ext cx="1243050" cy="380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3"/>
            <p:cNvSpPr/>
            <p:nvPr/>
          </p:nvSpPr>
          <p:spPr>
            <a:xfrm>
              <a:off x="1894403" y="382920"/>
              <a:ext cx="13970" cy="394335"/>
            </a:xfrm>
            <a:custGeom>
              <a:avLst/>
              <a:gdLst/>
              <a:ahLst/>
              <a:cxnLst/>
              <a:rect l="l" t="t" r="r" b="b"/>
              <a:pathLst>
                <a:path w="13969" h="394334" extrusionOk="0">
                  <a:moveTo>
                    <a:pt x="13894" y="0"/>
                  </a:moveTo>
                  <a:lnTo>
                    <a:pt x="0" y="0"/>
                  </a:lnTo>
                  <a:lnTo>
                    <a:pt x="0" y="394019"/>
                  </a:lnTo>
                  <a:lnTo>
                    <a:pt x="13894" y="394019"/>
                  </a:lnTo>
                  <a:lnTo>
                    <a:pt x="13894" y="0"/>
                  </a:lnTo>
                  <a:close/>
                </a:path>
              </a:pathLst>
            </a:custGeom>
            <a:solidFill>
              <a:srgbClr val="205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43F9AF31-4F32-8F0C-8F97-CBFBF5819293}"/>
              </a:ext>
            </a:extLst>
          </p:cNvPr>
          <p:cNvSpPr txBox="1"/>
          <p:nvPr/>
        </p:nvSpPr>
        <p:spPr>
          <a:xfrm>
            <a:off x="3540422" y="5287185"/>
            <a:ext cx="486228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b="1" dirty="0"/>
              <a:t>CARACTERÍSTICAS</a:t>
            </a:r>
            <a:r>
              <a:rPr lang="es-ES" sz="2450" dirty="0"/>
              <a:t>:</a:t>
            </a:r>
          </a:p>
          <a:p>
            <a:endParaRPr lang="es-ES" sz="2450" dirty="0"/>
          </a:p>
          <a:p>
            <a:r>
              <a:rPr lang="es-ES" sz="2800" dirty="0"/>
              <a:t>• </a:t>
            </a:r>
            <a:r>
              <a:rPr lang="es-ES" sz="2450" dirty="0"/>
              <a:t>Centralización de información crítica</a:t>
            </a:r>
          </a:p>
          <a:p>
            <a:r>
              <a:rPr lang="es-ES" sz="2800" dirty="0"/>
              <a:t>• </a:t>
            </a:r>
            <a:r>
              <a:rPr lang="es-ES" sz="2450" dirty="0"/>
              <a:t>Sistema de roles empresariales</a:t>
            </a:r>
          </a:p>
          <a:p>
            <a:r>
              <a:rPr lang="es-ES" sz="2800" dirty="0"/>
              <a:t>• </a:t>
            </a:r>
            <a:r>
              <a:rPr lang="es-ES" sz="2450" dirty="0"/>
              <a:t>Diseñado para necesidades Coppel</a:t>
            </a:r>
            <a:endParaRPr lang="es-MX" sz="24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C6D5C51-2F1E-BB83-6747-4B32045E0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5040" y="2806970"/>
            <a:ext cx="2398173" cy="159878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34285DB-218B-0A0C-3EB5-366BAACF97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9436" y="4384637"/>
            <a:ext cx="4275078" cy="613068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3C83D74-16D6-E0D3-04F6-2A9908F1B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3772" y="2879324"/>
            <a:ext cx="1395664" cy="14118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0" y="635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6F8F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7" name="Google Shape;97;p4"/>
          <p:cNvSpPr/>
          <p:nvPr/>
        </p:nvSpPr>
        <p:spPr>
          <a:xfrm>
            <a:off x="1047088" y="2450187"/>
            <a:ext cx="1026160" cy="4000500"/>
          </a:xfrm>
          <a:custGeom>
            <a:avLst/>
            <a:gdLst/>
            <a:ahLst/>
            <a:cxnLst/>
            <a:rect l="l" t="t" r="r" b="b"/>
            <a:pathLst>
              <a:path w="1026160" h="4000500" extrusionOk="0">
                <a:moveTo>
                  <a:pt x="1026146" y="0"/>
                </a:moveTo>
                <a:lnTo>
                  <a:pt x="0" y="691078"/>
                </a:lnTo>
                <a:lnTo>
                  <a:pt x="0" y="3999878"/>
                </a:lnTo>
                <a:lnTo>
                  <a:pt x="1026146" y="3308799"/>
                </a:lnTo>
                <a:lnTo>
                  <a:pt x="1026146" y="0"/>
                </a:lnTo>
                <a:close/>
              </a:path>
            </a:pathLst>
          </a:cu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8" name="Google Shape;98;p4"/>
          <p:cNvSpPr/>
          <p:nvPr/>
        </p:nvSpPr>
        <p:spPr>
          <a:xfrm>
            <a:off x="18030865" y="4858491"/>
            <a:ext cx="1026160" cy="4000500"/>
          </a:xfrm>
          <a:custGeom>
            <a:avLst/>
            <a:gdLst/>
            <a:ahLst/>
            <a:cxnLst/>
            <a:rect l="l" t="t" r="r" b="b"/>
            <a:pathLst>
              <a:path w="1026159" h="4000500" extrusionOk="0">
                <a:moveTo>
                  <a:pt x="1026146" y="0"/>
                </a:moveTo>
                <a:lnTo>
                  <a:pt x="0" y="691078"/>
                </a:lnTo>
                <a:lnTo>
                  <a:pt x="0" y="3999878"/>
                </a:lnTo>
                <a:lnTo>
                  <a:pt x="1026146" y="3308799"/>
                </a:lnTo>
                <a:lnTo>
                  <a:pt x="1026146" y="0"/>
                </a:lnTo>
                <a:close/>
              </a:path>
            </a:pathLst>
          </a:cu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9" name="Google Shape;99;p4"/>
          <p:cNvSpPr/>
          <p:nvPr/>
        </p:nvSpPr>
        <p:spPr>
          <a:xfrm>
            <a:off x="1036617" y="0"/>
            <a:ext cx="3298825" cy="3612515"/>
          </a:xfrm>
          <a:custGeom>
            <a:avLst/>
            <a:gdLst/>
            <a:ahLst/>
            <a:cxnLst/>
            <a:rect l="l" t="t" r="r" b="b"/>
            <a:pathLst>
              <a:path w="3298825" h="3612515" extrusionOk="0">
                <a:moveTo>
                  <a:pt x="3298328" y="0"/>
                </a:moveTo>
                <a:lnTo>
                  <a:pt x="2261711" y="0"/>
                </a:lnTo>
                <a:lnTo>
                  <a:pt x="0" y="2236287"/>
                </a:lnTo>
                <a:lnTo>
                  <a:pt x="0" y="3612455"/>
                </a:lnTo>
                <a:lnTo>
                  <a:pt x="3298328" y="0"/>
                </a:lnTo>
                <a:close/>
              </a:path>
            </a:pathLst>
          </a:custGeom>
          <a:solidFill>
            <a:srgbClr val="FFD82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0" name="Google Shape;100;p4"/>
          <p:cNvSpPr/>
          <p:nvPr/>
        </p:nvSpPr>
        <p:spPr>
          <a:xfrm>
            <a:off x="15769149" y="7696100"/>
            <a:ext cx="3298825" cy="3612515"/>
          </a:xfrm>
          <a:custGeom>
            <a:avLst/>
            <a:gdLst/>
            <a:ahLst/>
            <a:cxnLst/>
            <a:rect l="l" t="t" r="r" b="b"/>
            <a:pathLst>
              <a:path w="3298825" h="3612515" extrusionOk="0">
                <a:moveTo>
                  <a:pt x="3298328" y="0"/>
                </a:moveTo>
                <a:lnTo>
                  <a:pt x="0" y="3612455"/>
                </a:lnTo>
                <a:lnTo>
                  <a:pt x="1036617" y="3612455"/>
                </a:lnTo>
                <a:lnTo>
                  <a:pt x="3298328" y="1376167"/>
                </a:lnTo>
                <a:lnTo>
                  <a:pt x="3298328" y="0"/>
                </a:lnTo>
                <a:close/>
              </a:path>
            </a:pathLst>
          </a:custGeom>
          <a:solidFill>
            <a:srgbClr val="FFD82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1" name="Google Shape;101;p4"/>
          <p:cNvSpPr txBox="1"/>
          <p:nvPr/>
        </p:nvSpPr>
        <p:spPr>
          <a:xfrm>
            <a:off x="3264389" y="1668528"/>
            <a:ext cx="15371693" cy="1146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725" rIns="0" bIns="0" anchor="t" anchorCtr="0">
            <a:spAutoFit/>
          </a:bodyPr>
          <a:lstStyle/>
          <a:p>
            <a:pPr marL="12700" marR="5080" lvl="0" indent="0" algn="l" rtl="0">
              <a:lnSpc>
                <a:spcPct val="118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100" b="1" dirty="0">
                <a:solidFill>
                  <a:srgbClr val="235AA7"/>
                </a:solidFill>
                <a:latin typeface="Arial"/>
                <a:ea typeface="Arial"/>
                <a:cs typeface="Arial"/>
                <a:sym typeface="Arial"/>
              </a:rPr>
              <a:t>Demostración - Funcionalidades Clave</a:t>
            </a:r>
            <a:endParaRPr sz="6100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4"/>
          <p:cNvGrpSpPr/>
          <p:nvPr/>
        </p:nvGrpSpPr>
        <p:grpSpPr>
          <a:xfrm>
            <a:off x="0" y="5"/>
            <a:ext cx="20104100" cy="11308715"/>
            <a:chOff x="0" y="5"/>
            <a:chExt cx="20104100" cy="11308715"/>
          </a:xfrm>
        </p:grpSpPr>
        <p:sp>
          <p:nvSpPr>
            <p:cNvPr id="106" name="Google Shape;106;p4"/>
            <p:cNvSpPr/>
            <p:nvPr/>
          </p:nvSpPr>
          <p:spPr>
            <a:xfrm>
              <a:off x="0" y="5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 extrusionOk="0">
                  <a:moveTo>
                    <a:pt x="3427476" y="0"/>
                  </a:moveTo>
                  <a:lnTo>
                    <a:pt x="0" y="0"/>
                  </a:lnTo>
                  <a:lnTo>
                    <a:pt x="0" y="7067842"/>
                  </a:lnTo>
                  <a:lnTo>
                    <a:pt x="235750" y="7067842"/>
                  </a:lnTo>
                  <a:lnTo>
                    <a:pt x="1060881" y="6449403"/>
                  </a:lnTo>
                  <a:lnTo>
                    <a:pt x="1060881" y="2522829"/>
                  </a:lnTo>
                  <a:lnTo>
                    <a:pt x="3427476" y="0"/>
                  </a:lnTo>
                  <a:close/>
                </a:path>
                <a:path w="20104100" h="11308715" extrusionOk="0">
                  <a:moveTo>
                    <a:pt x="20104088" y="4240708"/>
                  </a:moveTo>
                  <a:lnTo>
                    <a:pt x="19868350" y="4240708"/>
                  </a:lnTo>
                  <a:lnTo>
                    <a:pt x="19043206" y="4859147"/>
                  </a:lnTo>
                  <a:lnTo>
                    <a:pt x="19043206" y="8785733"/>
                  </a:lnTo>
                  <a:lnTo>
                    <a:pt x="16676624" y="11308550"/>
                  </a:lnTo>
                  <a:lnTo>
                    <a:pt x="20104088" y="11308550"/>
                  </a:lnTo>
                  <a:lnTo>
                    <a:pt x="20104088" y="4240708"/>
                  </a:lnTo>
                  <a:close/>
                </a:path>
              </a:pathLst>
            </a:custGeom>
            <a:solidFill>
              <a:srgbClr val="2159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07" name="Google Shape;107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757256" y="391530"/>
              <a:ext cx="1368686" cy="394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439072" y="391532"/>
              <a:ext cx="1243050" cy="380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4"/>
            <p:cNvSpPr/>
            <p:nvPr/>
          </p:nvSpPr>
          <p:spPr>
            <a:xfrm>
              <a:off x="18278197" y="391527"/>
              <a:ext cx="13970" cy="394335"/>
            </a:xfrm>
            <a:custGeom>
              <a:avLst/>
              <a:gdLst/>
              <a:ahLst/>
              <a:cxnLst/>
              <a:rect l="l" t="t" r="r" b="b"/>
              <a:pathLst>
                <a:path w="13969" h="394334" extrusionOk="0">
                  <a:moveTo>
                    <a:pt x="13894" y="0"/>
                  </a:moveTo>
                  <a:lnTo>
                    <a:pt x="0" y="0"/>
                  </a:lnTo>
                  <a:lnTo>
                    <a:pt x="0" y="394019"/>
                  </a:lnTo>
                  <a:lnTo>
                    <a:pt x="13894" y="394019"/>
                  </a:lnTo>
                  <a:lnTo>
                    <a:pt x="13894" y="0"/>
                  </a:lnTo>
                  <a:close/>
                </a:path>
              </a:pathLst>
            </a:custGeom>
            <a:solidFill>
              <a:srgbClr val="205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10" name="Google Shape;110;p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78696" y="10382175"/>
              <a:ext cx="2718939" cy="680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4"/>
            <p:cNvSpPr/>
            <p:nvPr/>
          </p:nvSpPr>
          <p:spPr>
            <a:xfrm>
              <a:off x="277478" y="277478"/>
              <a:ext cx="19549745" cy="10753725"/>
            </a:xfrm>
            <a:custGeom>
              <a:avLst/>
              <a:gdLst/>
              <a:ahLst/>
              <a:cxnLst/>
              <a:rect l="l" t="t" r="r" b="b"/>
              <a:pathLst>
                <a:path w="19549745" h="10753725" extrusionOk="0">
                  <a:moveTo>
                    <a:pt x="0" y="10753599"/>
                  </a:moveTo>
                  <a:lnTo>
                    <a:pt x="19549142" y="10753599"/>
                  </a:lnTo>
                  <a:lnTo>
                    <a:pt x="19549142" y="0"/>
                  </a:lnTo>
                  <a:lnTo>
                    <a:pt x="0" y="0"/>
                  </a:lnTo>
                  <a:lnTo>
                    <a:pt x="0" y="10753599"/>
                  </a:lnTo>
                  <a:close/>
                </a:path>
              </a:pathLst>
            </a:custGeom>
            <a:noFill/>
            <a:ln w="10450" cap="flat" cmpd="sng">
              <a:solidFill>
                <a:srgbClr val="235A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40AA880-D5E5-D922-F4FC-8D32199C1EA8}"/>
              </a:ext>
            </a:extLst>
          </p:cNvPr>
          <p:cNvSpPr txBox="1"/>
          <p:nvPr/>
        </p:nvSpPr>
        <p:spPr>
          <a:xfrm>
            <a:off x="5820229" y="3377835"/>
            <a:ext cx="6531428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b="1" dirty="0"/>
              <a:t>📱 FLUJO ESENCIAL DE LA APLICACIÓN</a:t>
            </a:r>
            <a:endParaRPr lang="es-MX" sz="245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C72E262-29A6-5E0A-8D68-293996F37B56}"/>
              </a:ext>
            </a:extLst>
          </p:cNvPr>
          <p:cNvSpPr txBox="1"/>
          <p:nvPr/>
        </p:nvSpPr>
        <p:spPr>
          <a:xfrm>
            <a:off x="2873828" y="4206357"/>
            <a:ext cx="4093029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b="1" dirty="0"/>
              <a:t>1. 🔐 LOGIN SEGURO</a:t>
            </a:r>
          </a:p>
          <a:p>
            <a:endParaRPr lang="es-ES" sz="2450" dirty="0"/>
          </a:p>
          <a:p>
            <a:r>
              <a:rPr lang="es-ES" sz="2450" dirty="0"/>
              <a:t>• Validación por número de empleado</a:t>
            </a:r>
          </a:p>
          <a:p>
            <a:r>
              <a:rPr lang="es-ES" sz="2450" dirty="0"/>
              <a:t>•</a:t>
            </a:r>
            <a:r>
              <a:rPr lang="es-ES" dirty="0"/>
              <a:t> </a:t>
            </a:r>
            <a:r>
              <a:rPr lang="es-ES" sz="2450" dirty="0"/>
              <a:t>Roles: </a:t>
            </a:r>
            <a:r>
              <a:rPr lang="es-ES" sz="2450" dirty="0" err="1"/>
              <a:t>Admin</a:t>
            </a:r>
            <a:r>
              <a:rPr lang="es-ES" sz="2450" dirty="0"/>
              <a:t> / Operador</a:t>
            </a:r>
          </a:p>
          <a:p>
            <a:r>
              <a:rPr lang="es-ES" sz="2450" dirty="0"/>
              <a:t>Acceso diferenciado</a:t>
            </a:r>
            <a:endParaRPr lang="es-MX" sz="24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6D073A-8AD7-2394-BDFE-81C0C1E63187}"/>
              </a:ext>
            </a:extLst>
          </p:cNvPr>
          <p:cNvSpPr txBox="1"/>
          <p:nvPr/>
        </p:nvSpPr>
        <p:spPr>
          <a:xfrm>
            <a:off x="2873827" y="7036841"/>
            <a:ext cx="499376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b="1" dirty="0"/>
              <a:t>2. 📊 DASHBOARD PRINCIPAL</a:t>
            </a:r>
          </a:p>
          <a:p>
            <a:endParaRPr lang="es-ES" sz="2450" dirty="0"/>
          </a:p>
          <a:p>
            <a:r>
              <a:rPr lang="es-ES" sz="2450" b="1" dirty="0" err="1"/>
              <a:t>KPIs</a:t>
            </a:r>
            <a:r>
              <a:rPr lang="es-ES" sz="2450" b="1" dirty="0"/>
              <a:t> EN TIEMPO REAL:</a:t>
            </a:r>
          </a:p>
          <a:p>
            <a:endParaRPr lang="es-ES" sz="2450" dirty="0"/>
          </a:p>
          <a:p>
            <a:r>
              <a:rPr lang="es-ES" sz="2450" dirty="0"/>
              <a:t> • 85% Eficiencia cobranza</a:t>
            </a:r>
          </a:p>
          <a:p>
            <a:r>
              <a:rPr lang="es-ES" sz="2450" dirty="0"/>
              <a:t> • 2.3h Tiempo resolución  </a:t>
            </a:r>
          </a:p>
          <a:p>
            <a:r>
              <a:rPr lang="es-ES" sz="2450" dirty="0"/>
              <a:t> • 45 Clientes/agente</a:t>
            </a:r>
          </a:p>
          <a:p>
            <a:r>
              <a:rPr lang="es-ES" sz="2450" dirty="0"/>
              <a:t> • 92% Cumplimiento metas</a:t>
            </a:r>
            <a:endParaRPr lang="es-MX" sz="245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6512C79-9AFA-4852-96CC-C28DF2136497}"/>
              </a:ext>
            </a:extLst>
          </p:cNvPr>
          <p:cNvSpPr txBox="1"/>
          <p:nvPr/>
        </p:nvSpPr>
        <p:spPr>
          <a:xfrm>
            <a:off x="10271344" y="4206128"/>
            <a:ext cx="5355772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b="1" dirty="0"/>
              <a:t>3. ⚠️ GESTIÓN DE INCIDENCIAS</a:t>
            </a:r>
          </a:p>
          <a:p>
            <a:endParaRPr lang="es-ES" sz="2450" dirty="0"/>
          </a:p>
          <a:p>
            <a:r>
              <a:rPr lang="es-ES" sz="2450" dirty="0"/>
              <a:t>• CRUD completo de incidencias</a:t>
            </a:r>
          </a:p>
          <a:p>
            <a:r>
              <a:rPr lang="es-ES" sz="2450" dirty="0"/>
              <a:t>• Filtros por prioridad y estado</a:t>
            </a:r>
          </a:p>
          <a:p>
            <a:r>
              <a:rPr lang="es-ES" sz="2450" dirty="0"/>
              <a:t>• Búsqueda avanzada</a:t>
            </a:r>
            <a:endParaRPr lang="es-MX" sz="245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F2D07C6-EEDF-2450-5558-C8381D8C2586}"/>
              </a:ext>
            </a:extLst>
          </p:cNvPr>
          <p:cNvSpPr txBox="1"/>
          <p:nvPr/>
        </p:nvSpPr>
        <p:spPr>
          <a:xfrm>
            <a:off x="10463943" y="7036841"/>
            <a:ext cx="6766330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b="1" dirty="0"/>
              <a:t>4. 📈 REPORTES AUTOMATIZADOS</a:t>
            </a:r>
          </a:p>
          <a:p>
            <a:endParaRPr lang="es-ES" sz="2450" dirty="0"/>
          </a:p>
          <a:p>
            <a:r>
              <a:rPr lang="es-ES" sz="2450" dirty="0"/>
              <a:t>• Generación PDF con un clic</a:t>
            </a:r>
          </a:p>
          <a:p>
            <a:r>
              <a:rPr lang="es-ES" sz="2450" dirty="0"/>
              <a:t>• Reportes listos para gerencia</a:t>
            </a:r>
          </a:p>
          <a:p>
            <a:r>
              <a:rPr lang="es-ES" sz="2450" dirty="0"/>
              <a:t>• BENEFICIO: De 9 minutos a 10 segundos</a:t>
            </a:r>
            <a:endParaRPr lang="es-MX" sz="2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3540421" y="1152373"/>
            <a:ext cx="11529426" cy="101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/>
            <a:r>
              <a:rPr lang="es-MX" b="1" dirty="0"/>
              <a:t>Beneficios Adquiridos</a:t>
            </a:r>
            <a:endParaRPr dirty="0"/>
          </a:p>
        </p:txBody>
      </p:sp>
      <p:grpSp>
        <p:nvGrpSpPr>
          <p:cNvPr id="118" name="Google Shape;118;p5"/>
          <p:cNvGrpSpPr/>
          <p:nvPr/>
        </p:nvGrpSpPr>
        <p:grpSpPr>
          <a:xfrm>
            <a:off x="277478" y="277478"/>
            <a:ext cx="19549745" cy="10753725"/>
            <a:chOff x="277478" y="277478"/>
            <a:chExt cx="19549745" cy="10753725"/>
          </a:xfrm>
        </p:grpSpPr>
        <p:sp>
          <p:nvSpPr>
            <p:cNvPr id="120" name="Google Shape;120;p5"/>
            <p:cNvSpPr/>
            <p:nvPr/>
          </p:nvSpPr>
          <p:spPr>
            <a:xfrm>
              <a:off x="277478" y="277478"/>
              <a:ext cx="19549745" cy="10753725"/>
            </a:xfrm>
            <a:custGeom>
              <a:avLst/>
              <a:gdLst/>
              <a:ahLst/>
              <a:cxnLst/>
              <a:rect l="l" t="t" r="r" b="b"/>
              <a:pathLst>
                <a:path w="19549745" h="10753725" extrusionOk="0">
                  <a:moveTo>
                    <a:pt x="0" y="10753599"/>
                  </a:moveTo>
                  <a:lnTo>
                    <a:pt x="19549142" y="10753599"/>
                  </a:lnTo>
                  <a:lnTo>
                    <a:pt x="19549142" y="0"/>
                  </a:lnTo>
                  <a:lnTo>
                    <a:pt x="0" y="0"/>
                  </a:lnTo>
                  <a:lnTo>
                    <a:pt x="0" y="10753599"/>
                  </a:lnTo>
                  <a:close/>
                </a:path>
              </a:pathLst>
            </a:custGeom>
            <a:noFill/>
            <a:ln w="10450" cap="flat" cmpd="sng">
              <a:solidFill>
                <a:srgbClr val="235A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21" name="Google Shape;121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3461" y="382917"/>
              <a:ext cx="1368687" cy="394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55279" y="382919"/>
              <a:ext cx="1243050" cy="380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5"/>
            <p:cNvSpPr/>
            <p:nvPr/>
          </p:nvSpPr>
          <p:spPr>
            <a:xfrm>
              <a:off x="1894403" y="382920"/>
              <a:ext cx="13970" cy="394335"/>
            </a:xfrm>
            <a:custGeom>
              <a:avLst/>
              <a:gdLst/>
              <a:ahLst/>
              <a:cxnLst/>
              <a:rect l="l" t="t" r="r" b="b"/>
              <a:pathLst>
                <a:path w="13969" h="394334" extrusionOk="0">
                  <a:moveTo>
                    <a:pt x="13894" y="0"/>
                  </a:moveTo>
                  <a:lnTo>
                    <a:pt x="0" y="0"/>
                  </a:lnTo>
                  <a:lnTo>
                    <a:pt x="0" y="394019"/>
                  </a:lnTo>
                  <a:lnTo>
                    <a:pt x="13894" y="394019"/>
                  </a:lnTo>
                  <a:lnTo>
                    <a:pt x="13894" y="0"/>
                  </a:lnTo>
                  <a:close/>
                </a:path>
              </a:pathLst>
            </a:custGeom>
            <a:solidFill>
              <a:srgbClr val="205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8C6A0FB7-F962-85F1-6FE2-B9ABCC9E26BE}"/>
              </a:ext>
            </a:extLst>
          </p:cNvPr>
          <p:cNvSpPr txBox="1"/>
          <p:nvPr/>
        </p:nvSpPr>
        <p:spPr>
          <a:xfrm>
            <a:off x="10395548" y="2783114"/>
            <a:ext cx="5395728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b="1" dirty="0"/>
              <a:t>🌟 BENEFICIOS CUALITATIVOS:</a:t>
            </a:r>
          </a:p>
          <a:p>
            <a:endParaRPr lang="es-ES" sz="2450" dirty="0"/>
          </a:p>
          <a:p>
            <a:r>
              <a:rPr lang="es-ES" sz="2800" dirty="0"/>
              <a:t>• </a:t>
            </a:r>
            <a:r>
              <a:rPr lang="es-ES" sz="2450" dirty="0"/>
              <a:t>Supervisión proactiva vs reactiva</a:t>
            </a:r>
          </a:p>
          <a:p>
            <a:r>
              <a:rPr lang="es-ES" sz="2800" dirty="0"/>
              <a:t>• </a:t>
            </a:r>
            <a:r>
              <a:rPr lang="es-ES" sz="2450" dirty="0"/>
              <a:t>Decisiones con datos actualizados</a:t>
            </a:r>
          </a:p>
          <a:p>
            <a:r>
              <a:rPr lang="es-ES" sz="2800" dirty="0"/>
              <a:t>• </a:t>
            </a:r>
            <a:r>
              <a:rPr lang="es-ES" sz="2450" dirty="0"/>
              <a:t>Reducción carga administrativa</a:t>
            </a:r>
          </a:p>
          <a:p>
            <a:r>
              <a:rPr lang="es-ES" sz="2800" dirty="0"/>
              <a:t>• </a:t>
            </a:r>
            <a:r>
              <a:rPr lang="es-ES" sz="2450" dirty="0"/>
              <a:t>Enfoque en valor estratégico</a:t>
            </a:r>
            <a:endParaRPr lang="es-MX" sz="245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462953-6A2D-C451-3E52-9DF378A0F1DE}"/>
              </a:ext>
            </a:extLst>
          </p:cNvPr>
          <p:cNvSpPr txBox="1"/>
          <p:nvPr/>
        </p:nvSpPr>
        <p:spPr>
          <a:xfrm>
            <a:off x="3690766" y="2783114"/>
            <a:ext cx="5105442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b="1" dirty="0"/>
              <a:t>📊 MÉTRICAS CUANTITATIVAS:</a:t>
            </a:r>
          </a:p>
          <a:p>
            <a:endParaRPr lang="es-ES" sz="2450" dirty="0"/>
          </a:p>
          <a:p>
            <a:r>
              <a:rPr lang="es-ES" sz="2800" dirty="0"/>
              <a:t>• </a:t>
            </a:r>
            <a:r>
              <a:rPr lang="es-ES" sz="2450" dirty="0"/>
              <a:t>98% reducción tiempo acceso</a:t>
            </a:r>
          </a:p>
          <a:p>
            <a:r>
              <a:rPr lang="es-ES" sz="2800" dirty="0"/>
              <a:t>• </a:t>
            </a:r>
            <a:r>
              <a:rPr lang="es-ES" sz="2450" dirty="0"/>
              <a:t>99% eficiencia en reportes</a:t>
            </a:r>
          </a:p>
          <a:p>
            <a:r>
              <a:rPr lang="es-ES" sz="2800" dirty="0"/>
              <a:t>• </a:t>
            </a:r>
            <a:r>
              <a:rPr lang="es-ES" sz="2450" dirty="0"/>
              <a:t>50% velocidad en consultas</a:t>
            </a:r>
            <a:endParaRPr lang="es-MX" sz="245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487ABC6-7DBB-F949-06A7-16925FFA9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01937"/>
              </p:ext>
            </p:extLst>
          </p:nvPr>
        </p:nvGraphicFramePr>
        <p:xfrm>
          <a:off x="4339770" y="6739159"/>
          <a:ext cx="10570332" cy="2905932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3523444">
                  <a:extLst>
                    <a:ext uri="{9D8B030D-6E8A-4147-A177-3AD203B41FA5}">
                      <a16:colId xmlns:a16="http://schemas.microsoft.com/office/drawing/2014/main" val="1273052271"/>
                    </a:ext>
                  </a:extLst>
                </a:gridCol>
                <a:gridCol w="3523444">
                  <a:extLst>
                    <a:ext uri="{9D8B030D-6E8A-4147-A177-3AD203B41FA5}">
                      <a16:colId xmlns:a16="http://schemas.microsoft.com/office/drawing/2014/main" val="3714545143"/>
                    </a:ext>
                  </a:extLst>
                </a:gridCol>
                <a:gridCol w="3523444">
                  <a:extLst>
                    <a:ext uri="{9D8B030D-6E8A-4147-A177-3AD203B41FA5}">
                      <a16:colId xmlns:a16="http://schemas.microsoft.com/office/drawing/2014/main" val="1667909186"/>
                    </a:ext>
                  </a:extLst>
                </a:gridCol>
              </a:tblGrid>
              <a:tr h="968644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Tiempos De Acceso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9 Min ⭢ 10 </a:t>
                      </a:r>
                      <a:r>
                        <a:rPr lang="es-ES" sz="1800" b="1" dirty="0" err="1"/>
                        <a:t>Seg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FFD8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98%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543330"/>
                  </a:ext>
                </a:extLst>
              </a:tr>
              <a:tr h="968644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Generación De Reportes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45 Min ⭢ 30 </a:t>
                      </a:r>
                      <a:r>
                        <a:rPr lang="es-ES" sz="1800" b="1" dirty="0" err="1"/>
                        <a:t>Seg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FFD8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99%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631800"/>
                  </a:ext>
                </a:extLst>
              </a:tr>
              <a:tr h="968644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Velocidad De Consultas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 </a:t>
                      </a:r>
                      <a:r>
                        <a:rPr lang="es-ES" sz="1800" b="1" dirty="0" err="1"/>
                        <a:t>Seg</a:t>
                      </a:r>
                      <a:r>
                        <a:rPr lang="es-ES" sz="1800" b="1" dirty="0"/>
                        <a:t> ⭢ 2.5 </a:t>
                      </a:r>
                      <a:r>
                        <a:rPr lang="es-ES" sz="1800" b="1" dirty="0" err="1"/>
                        <a:t>Seg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FFD8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50%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7233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40E27DD-7FCF-EDF6-7276-4BF24609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8ADF5A72-88E5-A2C4-7BD2-F839C9396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65431" y="1375213"/>
            <a:ext cx="10716626" cy="101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r>
              <a:rPr lang="es-MX" b="1" dirty="0"/>
              <a:t>Conclusión Integral</a:t>
            </a: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CC230313-88B8-B162-2171-CB20B34D8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40422" y="2612571"/>
            <a:ext cx="6619578" cy="457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/>
              <a:t>🎓 CONOCIMIENTOS APLICADOS</a:t>
            </a:r>
            <a:endParaRPr b="1" dirty="0"/>
          </a:p>
        </p:txBody>
      </p:sp>
      <p:grpSp>
        <p:nvGrpSpPr>
          <p:cNvPr id="118" name="Google Shape;118;p5">
            <a:extLst>
              <a:ext uri="{FF2B5EF4-FFF2-40B4-BE49-F238E27FC236}">
                <a16:creationId xmlns:a16="http://schemas.microsoft.com/office/drawing/2014/main" id="{C21AFA47-929C-F9F7-E722-2BABC780AEE4}"/>
              </a:ext>
            </a:extLst>
          </p:cNvPr>
          <p:cNvGrpSpPr/>
          <p:nvPr/>
        </p:nvGrpSpPr>
        <p:grpSpPr>
          <a:xfrm>
            <a:off x="277478" y="277478"/>
            <a:ext cx="19549745" cy="10753725"/>
            <a:chOff x="277478" y="277478"/>
            <a:chExt cx="19549745" cy="10753725"/>
          </a:xfrm>
        </p:grpSpPr>
        <p:sp>
          <p:nvSpPr>
            <p:cNvPr id="120" name="Google Shape;120;p5">
              <a:extLst>
                <a:ext uri="{FF2B5EF4-FFF2-40B4-BE49-F238E27FC236}">
                  <a16:creationId xmlns:a16="http://schemas.microsoft.com/office/drawing/2014/main" id="{16D63798-0CD1-AD23-1328-CF2F58DE26F6}"/>
                </a:ext>
              </a:extLst>
            </p:cNvPr>
            <p:cNvSpPr/>
            <p:nvPr/>
          </p:nvSpPr>
          <p:spPr>
            <a:xfrm>
              <a:off x="277478" y="277478"/>
              <a:ext cx="19549745" cy="10753725"/>
            </a:xfrm>
            <a:custGeom>
              <a:avLst/>
              <a:gdLst/>
              <a:ahLst/>
              <a:cxnLst/>
              <a:rect l="l" t="t" r="r" b="b"/>
              <a:pathLst>
                <a:path w="19549745" h="10753725" extrusionOk="0">
                  <a:moveTo>
                    <a:pt x="0" y="10753599"/>
                  </a:moveTo>
                  <a:lnTo>
                    <a:pt x="19549142" y="10753599"/>
                  </a:lnTo>
                  <a:lnTo>
                    <a:pt x="19549142" y="0"/>
                  </a:lnTo>
                  <a:lnTo>
                    <a:pt x="0" y="0"/>
                  </a:lnTo>
                  <a:lnTo>
                    <a:pt x="0" y="10753599"/>
                  </a:lnTo>
                  <a:close/>
                </a:path>
              </a:pathLst>
            </a:custGeom>
            <a:noFill/>
            <a:ln w="10450" cap="flat" cmpd="sng">
              <a:solidFill>
                <a:srgbClr val="235A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21" name="Google Shape;121;p5">
              <a:extLst>
                <a:ext uri="{FF2B5EF4-FFF2-40B4-BE49-F238E27FC236}">
                  <a16:creationId xmlns:a16="http://schemas.microsoft.com/office/drawing/2014/main" id="{CE395721-A719-D224-F5C7-159683BC8B0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3461" y="382917"/>
              <a:ext cx="1368687" cy="394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5">
              <a:extLst>
                <a:ext uri="{FF2B5EF4-FFF2-40B4-BE49-F238E27FC236}">
                  <a16:creationId xmlns:a16="http://schemas.microsoft.com/office/drawing/2014/main" id="{A0951B12-1D26-FD2D-874C-A3B60B29D3C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55279" y="382919"/>
              <a:ext cx="1243050" cy="380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5">
              <a:extLst>
                <a:ext uri="{FF2B5EF4-FFF2-40B4-BE49-F238E27FC236}">
                  <a16:creationId xmlns:a16="http://schemas.microsoft.com/office/drawing/2014/main" id="{5237FA0E-8DBD-C2E7-BCE4-57EFA0CE812A}"/>
                </a:ext>
              </a:extLst>
            </p:cNvPr>
            <p:cNvSpPr/>
            <p:nvPr/>
          </p:nvSpPr>
          <p:spPr>
            <a:xfrm>
              <a:off x="1894403" y="382920"/>
              <a:ext cx="13970" cy="394335"/>
            </a:xfrm>
            <a:custGeom>
              <a:avLst/>
              <a:gdLst/>
              <a:ahLst/>
              <a:cxnLst/>
              <a:rect l="l" t="t" r="r" b="b"/>
              <a:pathLst>
                <a:path w="13969" h="394334" extrusionOk="0">
                  <a:moveTo>
                    <a:pt x="13894" y="0"/>
                  </a:moveTo>
                  <a:lnTo>
                    <a:pt x="0" y="0"/>
                  </a:lnTo>
                  <a:lnTo>
                    <a:pt x="0" y="394019"/>
                  </a:lnTo>
                  <a:lnTo>
                    <a:pt x="13894" y="394019"/>
                  </a:lnTo>
                  <a:lnTo>
                    <a:pt x="13894" y="0"/>
                  </a:lnTo>
                  <a:close/>
                </a:path>
              </a:pathLst>
            </a:custGeom>
            <a:solidFill>
              <a:srgbClr val="205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EE34FDBC-83D1-7E40-5862-9D52D4E61E8B}"/>
              </a:ext>
            </a:extLst>
          </p:cNvPr>
          <p:cNvSpPr txBox="1"/>
          <p:nvPr/>
        </p:nvSpPr>
        <p:spPr>
          <a:xfrm>
            <a:off x="3438822" y="3698288"/>
            <a:ext cx="5201198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b="1" dirty="0"/>
              <a:t>🎓 FORMACIÓN ACADÉMICA:</a:t>
            </a:r>
          </a:p>
          <a:p>
            <a:endParaRPr lang="es-ES" sz="2450" dirty="0"/>
          </a:p>
          <a:p>
            <a:r>
              <a:rPr lang="es-ES" sz="2450" dirty="0"/>
              <a:t>• Ingeniería de Software → MVVM</a:t>
            </a:r>
          </a:p>
          <a:p>
            <a:r>
              <a:rPr lang="es-ES" sz="2450" dirty="0"/>
              <a:t>• Bases de Datos → </a:t>
            </a:r>
            <a:r>
              <a:rPr lang="es-ES" sz="2450" dirty="0" err="1"/>
              <a:t>Room</a:t>
            </a:r>
            <a:r>
              <a:rPr lang="es-ES" sz="2450" dirty="0"/>
              <a:t> + SQL</a:t>
            </a:r>
          </a:p>
          <a:p>
            <a:r>
              <a:rPr lang="es-ES" sz="2450" dirty="0"/>
              <a:t>• Apps Móviles → </a:t>
            </a:r>
            <a:r>
              <a:rPr lang="es-ES" sz="2450" dirty="0" err="1"/>
              <a:t>Kotlin</a:t>
            </a:r>
            <a:r>
              <a:rPr lang="es-ES" sz="2450" dirty="0"/>
              <a:t> nativo</a:t>
            </a:r>
          </a:p>
          <a:p>
            <a:r>
              <a:rPr lang="es-ES" sz="2450" dirty="0"/>
              <a:t>• Diseño Interfaces → UX/UI</a:t>
            </a:r>
            <a:endParaRPr lang="es-MX" sz="245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F902AB-C7A1-B2A9-1839-B2B9FC378FAF}"/>
              </a:ext>
            </a:extLst>
          </p:cNvPr>
          <p:cNvSpPr txBox="1"/>
          <p:nvPr/>
        </p:nvSpPr>
        <p:spPr>
          <a:xfrm>
            <a:off x="3438822" y="6490414"/>
            <a:ext cx="4728071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50" b="1" dirty="0"/>
              <a:t>🚀 PRÓXIMOS PASOS:</a:t>
            </a:r>
          </a:p>
          <a:p>
            <a:endParaRPr lang="es-ES" sz="2450" dirty="0"/>
          </a:p>
          <a:p>
            <a:r>
              <a:rPr lang="es-ES" sz="2450" dirty="0"/>
              <a:t>• Integración </a:t>
            </a:r>
            <a:r>
              <a:rPr lang="es-ES" sz="2450" dirty="0" err="1"/>
              <a:t>APIs</a:t>
            </a:r>
            <a:r>
              <a:rPr lang="es-ES" sz="2450" dirty="0"/>
              <a:t> corporativas</a:t>
            </a:r>
          </a:p>
          <a:p>
            <a:r>
              <a:rPr lang="es-ES" sz="2450" dirty="0"/>
              <a:t>• Notificaciones </a:t>
            </a:r>
            <a:r>
              <a:rPr lang="es-ES" sz="2450" dirty="0" err="1"/>
              <a:t>push</a:t>
            </a:r>
            <a:endParaRPr lang="es-ES" sz="2450" dirty="0"/>
          </a:p>
          <a:p>
            <a:r>
              <a:rPr lang="es-ES" sz="2450" dirty="0"/>
              <a:t>• Escalabilidad garantizada</a:t>
            </a:r>
            <a:endParaRPr lang="es-MX" sz="245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A110BAD-6A09-B3EF-B0B8-C179D7F18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431334"/>
              </p:ext>
            </p:extLst>
          </p:nvPr>
        </p:nvGraphicFramePr>
        <p:xfrm>
          <a:off x="10045700" y="3069604"/>
          <a:ext cx="6619578" cy="628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789">
                  <a:extLst>
                    <a:ext uri="{9D8B030D-6E8A-4147-A177-3AD203B41FA5}">
                      <a16:colId xmlns:a16="http://schemas.microsoft.com/office/drawing/2014/main" val="1415144634"/>
                    </a:ext>
                  </a:extLst>
                </a:gridCol>
                <a:gridCol w="3309789">
                  <a:extLst>
                    <a:ext uri="{9D8B030D-6E8A-4147-A177-3AD203B41FA5}">
                      <a16:colId xmlns:a16="http://schemas.microsoft.com/office/drawing/2014/main" val="287721331"/>
                    </a:ext>
                  </a:extLst>
                </a:gridCol>
              </a:tblGrid>
              <a:tr h="125755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</a:rPr>
                        <a:t>Académico</a:t>
                      </a:r>
                      <a:endParaRPr lang="es-MX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D8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</a:rPr>
                        <a:t>Practico</a:t>
                      </a:r>
                      <a:endParaRPr lang="es-MX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D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811657"/>
                  </a:ext>
                </a:extLst>
              </a:tr>
              <a:tr h="125755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Teoría BD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 err="1"/>
                        <a:t>Room</a:t>
                      </a:r>
                      <a:r>
                        <a:rPr lang="es-ES" sz="1800" b="1" dirty="0"/>
                        <a:t> SQL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109343"/>
                  </a:ext>
                </a:extLst>
              </a:tr>
              <a:tr h="125755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Ing. Software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MVVM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27190"/>
                  </a:ext>
                </a:extLst>
              </a:tr>
              <a:tr h="125755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App Móviles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 err="1"/>
                        <a:t>Kotlin</a:t>
                      </a:r>
                      <a:r>
                        <a:rPr lang="es-ES" sz="1800" b="1" dirty="0"/>
                        <a:t> Nativo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091001"/>
                  </a:ext>
                </a:extLst>
              </a:tr>
              <a:tr h="125755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Diseño UI / UX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Material </a:t>
                      </a:r>
                      <a:r>
                        <a:rPr lang="es-ES" sz="1800" b="1" dirty="0" err="1"/>
                        <a:t>Design</a:t>
                      </a:r>
                      <a:endParaRPr lang="es-MX" sz="1800" b="1" dirty="0"/>
                    </a:p>
                  </a:txBody>
                  <a:tcPr anchor="ctr">
                    <a:solidFill>
                      <a:srgbClr val="215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21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669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EB95E56B-9A8B-55D5-DBCF-0053F06B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CE6AC53B-5791-F4C9-2BD1-A9FC88B366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65431" y="1375213"/>
            <a:ext cx="3395979" cy="1018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r>
              <a:rPr lang="es-MX" b="1" dirty="0"/>
              <a:t>Cierre </a:t>
            </a: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D9BB0880-24BC-9904-BB3A-C7C9ECEB6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40421" y="2678317"/>
            <a:ext cx="12877165" cy="447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/>
              <a:t>✅ Software 100% Operativo</a:t>
            </a:r>
            <a:endParaRPr sz="2400" dirty="0"/>
          </a:p>
        </p:txBody>
      </p:sp>
      <p:grpSp>
        <p:nvGrpSpPr>
          <p:cNvPr id="118" name="Google Shape;118;p5">
            <a:extLst>
              <a:ext uri="{FF2B5EF4-FFF2-40B4-BE49-F238E27FC236}">
                <a16:creationId xmlns:a16="http://schemas.microsoft.com/office/drawing/2014/main" id="{C7E98600-ADAA-7738-B62F-0C6CF8B80D0D}"/>
              </a:ext>
            </a:extLst>
          </p:cNvPr>
          <p:cNvGrpSpPr/>
          <p:nvPr/>
        </p:nvGrpSpPr>
        <p:grpSpPr>
          <a:xfrm>
            <a:off x="277478" y="277478"/>
            <a:ext cx="19549745" cy="10753725"/>
            <a:chOff x="277478" y="277478"/>
            <a:chExt cx="19549745" cy="10753725"/>
          </a:xfrm>
        </p:grpSpPr>
        <p:sp>
          <p:nvSpPr>
            <p:cNvPr id="120" name="Google Shape;120;p5">
              <a:extLst>
                <a:ext uri="{FF2B5EF4-FFF2-40B4-BE49-F238E27FC236}">
                  <a16:creationId xmlns:a16="http://schemas.microsoft.com/office/drawing/2014/main" id="{FE0A77B0-C7A9-C4B5-D9E8-B7C32E4CD929}"/>
                </a:ext>
              </a:extLst>
            </p:cNvPr>
            <p:cNvSpPr/>
            <p:nvPr/>
          </p:nvSpPr>
          <p:spPr>
            <a:xfrm>
              <a:off x="277478" y="277478"/>
              <a:ext cx="19549745" cy="10753725"/>
            </a:xfrm>
            <a:custGeom>
              <a:avLst/>
              <a:gdLst/>
              <a:ahLst/>
              <a:cxnLst/>
              <a:rect l="l" t="t" r="r" b="b"/>
              <a:pathLst>
                <a:path w="19549745" h="10753725" extrusionOk="0">
                  <a:moveTo>
                    <a:pt x="0" y="10753599"/>
                  </a:moveTo>
                  <a:lnTo>
                    <a:pt x="19549142" y="10753599"/>
                  </a:lnTo>
                  <a:lnTo>
                    <a:pt x="19549142" y="0"/>
                  </a:lnTo>
                  <a:lnTo>
                    <a:pt x="0" y="0"/>
                  </a:lnTo>
                  <a:lnTo>
                    <a:pt x="0" y="10753599"/>
                  </a:lnTo>
                  <a:close/>
                </a:path>
              </a:pathLst>
            </a:custGeom>
            <a:noFill/>
            <a:ln w="10450" cap="flat" cmpd="sng">
              <a:solidFill>
                <a:srgbClr val="235AA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21" name="Google Shape;121;p5">
              <a:extLst>
                <a:ext uri="{FF2B5EF4-FFF2-40B4-BE49-F238E27FC236}">
                  <a16:creationId xmlns:a16="http://schemas.microsoft.com/office/drawing/2014/main" id="{EF1258F8-FFF3-5542-351B-48B0AA97BAE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3461" y="382917"/>
              <a:ext cx="1368687" cy="394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5">
              <a:extLst>
                <a:ext uri="{FF2B5EF4-FFF2-40B4-BE49-F238E27FC236}">
                  <a16:creationId xmlns:a16="http://schemas.microsoft.com/office/drawing/2014/main" id="{23FF4950-4BF3-299D-3A77-86B94B0670E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55279" y="382919"/>
              <a:ext cx="1243050" cy="380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5">
              <a:extLst>
                <a:ext uri="{FF2B5EF4-FFF2-40B4-BE49-F238E27FC236}">
                  <a16:creationId xmlns:a16="http://schemas.microsoft.com/office/drawing/2014/main" id="{FBDE333D-6782-15D4-27FB-64A9F4AE51E9}"/>
                </a:ext>
              </a:extLst>
            </p:cNvPr>
            <p:cNvSpPr/>
            <p:nvPr/>
          </p:nvSpPr>
          <p:spPr>
            <a:xfrm>
              <a:off x="1894403" y="382920"/>
              <a:ext cx="13970" cy="394335"/>
            </a:xfrm>
            <a:custGeom>
              <a:avLst/>
              <a:gdLst/>
              <a:ahLst/>
              <a:cxnLst/>
              <a:rect l="l" t="t" r="r" b="b"/>
              <a:pathLst>
                <a:path w="13969" h="394334" extrusionOk="0">
                  <a:moveTo>
                    <a:pt x="13894" y="0"/>
                  </a:moveTo>
                  <a:lnTo>
                    <a:pt x="0" y="0"/>
                  </a:lnTo>
                  <a:lnTo>
                    <a:pt x="0" y="394019"/>
                  </a:lnTo>
                  <a:lnTo>
                    <a:pt x="13894" y="394019"/>
                  </a:lnTo>
                  <a:lnTo>
                    <a:pt x="13894" y="0"/>
                  </a:lnTo>
                  <a:close/>
                </a:path>
              </a:pathLst>
            </a:custGeom>
            <a:solidFill>
              <a:srgbClr val="205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2738943D-4163-F403-C5E2-0651B65B1611}"/>
              </a:ext>
            </a:extLst>
          </p:cNvPr>
          <p:cNvSpPr txBox="1"/>
          <p:nvPr/>
        </p:nvSpPr>
        <p:spPr>
          <a:xfrm>
            <a:off x="3540421" y="3849361"/>
            <a:ext cx="6740023" cy="4993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50" dirty="0"/>
              <a:t>🎯 ESTADO ACTUAL:</a:t>
            </a:r>
          </a:p>
          <a:p>
            <a:r>
              <a:rPr lang="es-MX" sz="2450" dirty="0"/>
              <a:t>• ✅ Listo para instalación</a:t>
            </a:r>
          </a:p>
          <a:p>
            <a:r>
              <a:rPr lang="es-MX" sz="2450" dirty="0"/>
              <a:t>• ✅ Listo para ejecución</a:t>
            </a:r>
          </a:p>
          <a:p>
            <a:r>
              <a:rPr lang="es-MX" sz="2450" dirty="0"/>
              <a:t>• ✅ Listo para marcha blanca</a:t>
            </a:r>
          </a:p>
          <a:p>
            <a:endParaRPr lang="es-MX" sz="2450" dirty="0"/>
          </a:p>
          <a:p>
            <a:r>
              <a:rPr lang="es-MX" sz="2450" dirty="0"/>
              <a:t>📞 CONTACTO:</a:t>
            </a:r>
          </a:p>
          <a:p>
            <a:r>
              <a:rPr lang="es-MX" sz="2450" dirty="0"/>
              <a:t>Felipe Jacobo</a:t>
            </a:r>
          </a:p>
          <a:p>
            <a:r>
              <a:rPr lang="es-MX" sz="2450" dirty="0"/>
              <a:t>Felipe09578@gmail.com</a:t>
            </a:r>
          </a:p>
          <a:p>
            <a:r>
              <a:rPr lang="es-MX" sz="2450" dirty="0"/>
              <a:t>6674599691</a:t>
            </a:r>
          </a:p>
          <a:p>
            <a:r>
              <a:rPr lang="es-MX" sz="2450" dirty="0">
                <a:hlinkClick r:id="rId5"/>
              </a:rPr>
              <a:t>GitHub</a:t>
            </a:r>
            <a:endParaRPr lang="es-MX" sz="2450" dirty="0"/>
          </a:p>
          <a:p>
            <a:endParaRPr lang="es-MX" sz="2450" dirty="0"/>
          </a:p>
          <a:p>
            <a:r>
              <a:rPr lang="es-MX" sz="2450" dirty="0"/>
              <a:t>"Transformando desafíos complejos </a:t>
            </a:r>
          </a:p>
          <a:p>
            <a:r>
              <a:rPr lang="es-MX" sz="2450" dirty="0"/>
              <a:t>en soluciones tecnológicas efectivas"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DA857DF-41DF-836F-F836-B07A18EC9D0E}"/>
              </a:ext>
            </a:extLst>
          </p:cNvPr>
          <p:cNvSpPr txBox="1"/>
          <p:nvPr/>
        </p:nvSpPr>
        <p:spPr>
          <a:xfrm>
            <a:off x="11959771" y="4391867"/>
            <a:ext cx="4821151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50" dirty="0"/>
              <a:t>[Código QR para descargar APK]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BAE893-4643-C769-497F-CE5C881AE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3585" y="4960511"/>
            <a:ext cx="3349827" cy="434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5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488</Words>
  <Application>Microsoft Office PowerPoint</Application>
  <PresentationFormat>Personalizado</PresentationFormat>
  <Paragraphs>128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Arial Black</vt:lpstr>
      <vt:lpstr>Office Theme</vt:lpstr>
      <vt:lpstr>Dashboard Móvil Torre de Control</vt:lpstr>
      <vt:lpstr>Problemática Detectada</vt:lpstr>
      <vt:lpstr>Solución Implementada</vt:lpstr>
      <vt:lpstr>Presentación de PowerPoint</vt:lpstr>
      <vt:lpstr>Beneficios Adquiridos</vt:lpstr>
      <vt:lpstr>Conclusión Integral</vt:lpstr>
      <vt:lpstr>Cierre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Jacobo</cp:lastModifiedBy>
  <cp:revision>6</cp:revision>
  <dcterms:created xsi:type="dcterms:W3CDTF">2023-08-24T22:22:01Z</dcterms:created>
  <dcterms:modified xsi:type="dcterms:W3CDTF">2025-11-23T23:51:39Z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2023-08-24T00:00:00Z</vt:filetime>
  </property>
  <property fmtid="{D5CDD505-2E9C-101B-9397-08002B2CF9AE}" pid="3" name="Creator">
    <vt:lpwstr>Adobe InDesign 18.5 (Macintosh)</vt:lpwstr>
  </property>
  <property fmtid="{D5CDD505-2E9C-101B-9397-08002B2CF9AE}" pid="4" name="LastSaved">
    <vt:filetime>2023-08-24T00:00:00Z</vt:filetime>
  </property>
  <property fmtid="{D5CDD505-2E9C-101B-9397-08002B2CF9AE}" pid="5" name="Producer">
    <vt:lpwstr>Adobe PDF Library 17.0</vt:lpwstr>
  </property>
</Properties>
</file>